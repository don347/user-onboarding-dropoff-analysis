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140677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15162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35394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86455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56757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418046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10543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37802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224674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82839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4318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7159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708578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1004357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70826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4121390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325548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89854F-7BC0-4C36-B012-6E537914CE5A}" type="datetimeFigureOut">
              <a:rPr lang="en-VG" smtClean="0"/>
              <a:t>05/05/2026</a:t>
            </a:fld>
            <a:endParaRPr lang="en-V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V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77A8E-7753-4C19-8C6B-0369B64EAD95}" type="slidenum">
              <a:rPr lang="en-VG" smtClean="0"/>
              <a:t>‹#›</a:t>
            </a:fld>
            <a:endParaRPr lang="en-VG"/>
          </a:p>
        </p:txBody>
      </p:sp>
    </p:spTree>
    <p:extLst>
      <p:ext uri="{BB962C8B-B14F-4D97-AF65-F5344CB8AC3E}">
        <p14:creationId xmlns:p14="http://schemas.microsoft.com/office/powerpoint/2010/main" val="710618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6153-28B2-A069-2026-D8DA1C7FD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Title:</a:t>
            </a:r>
            <a:br>
              <a:rPr lang="en-GB" dirty="0"/>
            </a:br>
            <a:r>
              <a:rPr lang="en-GB" dirty="0"/>
              <a:t>User Onboarding Drop-off Analysis</a:t>
            </a:r>
            <a:endParaRPr lang="en-V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BD689-72B6-56CC-D034-BB6C7095D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Data-Driven Investigation into Where and Why Users Abandon the Onboarding Journey Presented by: Akinyemi Tolulope Role: Data Analyst Date: May 2026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180791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AA-4E48-FA48-3DBA-47849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FE12-7F94-2B00-802A-5AE753C5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Will Cover Today</a:t>
            </a:r>
            <a:br>
              <a:rPr lang="en-GB" dirty="0"/>
            </a:br>
            <a:r>
              <a:rPr lang="en-GB" dirty="0"/>
              <a:t> Points: </a:t>
            </a:r>
            <a:br>
              <a:rPr lang="en-GB" dirty="0"/>
            </a:br>
            <a:r>
              <a:rPr lang="en-GB" dirty="0"/>
              <a:t>1. Project Background &amp; Objectives</a:t>
            </a:r>
            <a:br>
              <a:rPr lang="en-GB" dirty="0"/>
            </a:br>
            <a:r>
              <a:rPr lang="en-GB" dirty="0"/>
              <a:t>2. About the Dataset </a:t>
            </a:r>
            <a:br>
              <a:rPr lang="en-GB" dirty="0"/>
            </a:br>
            <a:r>
              <a:rPr lang="en-GB" dirty="0"/>
              <a:t>3. Key KPI Summary </a:t>
            </a:r>
            <a:br>
              <a:rPr lang="en-GB" dirty="0"/>
            </a:br>
            <a:r>
              <a:rPr lang="en-GB" dirty="0"/>
              <a:t>4. Funnel Analysis — Where Users Drop Off</a:t>
            </a:r>
            <a:br>
              <a:rPr lang="en-GB" dirty="0"/>
            </a:br>
            <a:r>
              <a:rPr lang="en-GB" dirty="0"/>
              <a:t>5. Acquisition Source Performance </a:t>
            </a:r>
            <a:br>
              <a:rPr lang="en-GB" dirty="0"/>
            </a:br>
            <a:r>
              <a:rPr lang="en-GB" dirty="0"/>
              <a:t>6. Device &amp; Demographic Breakdown </a:t>
            </a:r>
            <a:br>
              <a:rPr lang="en-GB" dirty="0"/>
            </a:br>
            <a:r>
              <a:rPr lang="en-GB" dirty="0"/>
              <a:t>7. User Behaviour &amp; Engagement </a:t>
            </a:r>
            <a:br>
              <a:rPr lang="en-GB" dirty="0"/>
            </a:br>
            <a:r>
              <a:rPr lang="en-GB" dirty="0"/>
              <a:t>8. Key Insights &amp; Recommendations </a:t>
            </a:r>
            <a:br>
              <a:rPr lang="en-GB" dirty="0"/>
            </a:br>
            <a:r>
              <a:rPr lang="en-GB" dirty="0"/>
              <a:t>9. Conclusion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89808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4B55-5F65-7CDE-EFB4-54E5A01A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Background &amp; Objectives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89EF-6934-B995-0EF0-C13D1BF8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580969"/>
            <a:ext cx="8946541" cy="41954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What is this project about?</a:t>
            </a:r>
          </a:p>
          <a:p>
            <a:r>
              <a:rPr lang="en-GB" dirty="0"/>
              <a:t>Every product or service has an onboarding process — the steps a new user takes </a:t>
            </a:r>
          </a:p>
          <a:p>
            <a:r>
              <a:rPr lang="en-GB" dirty="0"/>
              <a:t>from signing up to becoming a fully active customer. When users abandon this </a:t>
            </a:r>
          </a:p>
          <a:p>
            <a:r>
              <a:rPr lang="en-GB" dirty="0"/>
              <a:t>process before completing it, the business loses potential revenue.</a:t>
            </a:r>
          </a:p>
          <a:p>
            <a:r>
              <a:rPr lang="en-GB" dirty="0"/>
              <a:t>This project analyses the onboarding journey of 1,500 users to answer </a:t>
            </a:r>
          </a:p>
          <a:p>
            <a:r>
              <a:rPr lang="en-GB" dirty="0"/>
              <a:t>three critical business questions:</a:t>
            </a:r>
          </a:p>
          <a:p>
            <a:r>
              <a:rPr lang="en-GB" dirty="0"/>
              <a:t>Question 1:</a:t>
            </a:r>
          </a:p>
          <a:p>
            <a:r>
              <a:rPr lang="en-GB" dirty="0"/>
              <a:t>Where exactly in the onboarding process are users dropping off?</a:t>
            </a:r>
          </a:p>
          <a:p>
            <a:r>
              <a:rPr lang="en-GB" dirty="0"/>
              <a:t>Question 2:</a:t>
            </a:r>
          </a:p>
          <a:p>
            <a:r>
              <a:rPr lang="en-GB" dirty="0"/>
              <a:t>Which types of users — by device, country, age, and source — </a:t>
            </a:r>
          </a:p>
          <a:p>
            <a:r>
              <a:rPr lang="en-GB" dirty="0"/>
              <a:t>are most likely to drop off?</a:t>
            </a:r>
          </a:p>
          <a:p>
            <a:r>
              <a:rPr lang="en-GB" dirty="0"/>
              <a:t>Question 3:</a:t>
            </a:r>
          </a:p>
          <a:p>
            <a:r>
              <a:rPr lang="en-GB" dirty="0"/>
              <a:t>What behaviour patterns separate users who convert from those who don't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379494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95AC-94B6-DDC5-3434-AC0CDE70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E5B99-B7E8-B670-05F0-4752B765E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Dataset Name: User Onboarding Drop-off </a:t>
            </a:r>
            <a:r>
              <a:rPr lang="en-GB" dirty="0" err="1"/>
              <a:t>DatasetTotal</a:t>
            </a:r>
            <a:r>
              <a:rPr lang="en-GB" dirty="0"/>
              <a:t> Records: 1,500 users</a:t>
            </a:r>
          </a:p>
          <a:p>
            <a:r>
              <a:rPr lang="en-GB" dirty="0"/>
              <a:t>Time Period: January 2024 — December 2024</a:t>
            </a:r>
          </a:p>
          <a:p>
            <a:r>
              <a:rPr lang="en-GB" dirty="0"/>
              <a:t>Industries Covered: Finance, Technology, Healthcare, Retail</a:t>
            </a:r>
          </a:p>
          <a:p>
            <a:r>
              <a:rPr lang="en-GB" dirty="0"/>
              <a:t>Key columns in the dataset:</a:t>
            </a:r>
          </a:p>
          <a:p>
            <a:r>
              <a:rPr lang="en-GB" dirty="0"/>
              <a:t>- </a:t>
            </a:r>
            <a:r>
              <a:rPr lang="en-GB" dirty="0" err="1"/>
              <a:t>user_id</a:t>
            </a:r>
            <a:r>
              <a:rPr lang="en-GB" dirty="0"/>
              <a:t> — Unique identifier for each user</a:t>
            </a:r>
          </a:p>
          <a:p>
            <a:r>
              <a:rPr lang="en-GB" dirty="0"/>
              <a:t>- </a:t>
            </a:r>
            <a:r>
              <a:rPr lang="en-GB" dirty="0" err="1"/>
              <a:t>signup_date</a:t>
            </a:r>
            <a:r>
              <a:rPr lang="en-GB" dirty="0"/>
              <a:t> — Date the user started onboarding</a:t>
            </a:r>
          </a:p>
          <a:p>
            <a:r>
              <a:rPr lang="en-GB" dirty="0"/>
              <a:t>- </a:t>
            </a:r>
            <a:r>
              <a:rPr lang="en-GB" dirty="0" err="1"/>
              <a:t>acquisition_source</a:t>
            </a:r>
            <a:r>
              <a:rPr lang="en-GB" dirty="0"/>
              <a:t> — How the user found the product</a:t>
            </a:r>
          </a:p>
          <a:p>
            <a:r>
              <a:rPr lang="en-GB" dirty="0"/>
              <a:t>  (Organic Search, Paid Ad, Referral, Social Media, Email Campaign, Direct)</a:t>
            </a:r>
          </a:p>
          <a:p>
            <a:r>
              <a:rPr lang="en-GB" dirty="0"/>
              <a:t>- </a:t>
            </a:r>
            <a:r>
              <a:rPr lang="en-GB" dirty="0" err="1"/>
              <a:t>device_type</a:t>
            </a:r>
            <a:r>
              <a:rPr lang="en-GB" dirty="0"/>
              <a:t> — Device used during onboarding (Mobile, Desktop, Tablet)</a:t>
            </a:r>
          </a:p>
          <a:p>
            <a:r>
              <a:rPr lang="en-GB" dirty="0"/>
              <a:t>Step 8 → Converted ✅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2172720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8011-481E-EAD8-18CA-B38B34469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-253337"/>
            <a:ext cx="9404723" cy="718157"/>
          </a:xfrm>
        </p:spPr>
        <p:txBody>
          <a:bodyPr/>
          <a:lstStyle/>
          <a:p>
            <a:endParaRPr lang="en-V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38AA6-9132-1257-F35A-5CF4F586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- country — Where the user is from (UAE, Saudi Arabia, Egypt, USA, UK and more)</a:t>
            </a:r>
          </a:p>
          <a:p>
            <a:r>
              <a:rPr lang="en-GB" dirty="0"/>
              <a:t>- </a:t>
            </a:r>
            <a:r>
              <a:rPr lang="en-GB" dirty="0" err="1"/>
              <a:t>age_group</a:t>
            </a:r>
            <a:r>
              <a:rPr lang="en-GB" dirty="0"/>
              <a:t> — Age bracket of the user (18–24, 25–34, 35–44, 45–54, 55+)</a:t>
            </a:r>
          </a:p>
          <a:p>
            <a:r>
              <a:rPr lang="en-GB" dirty="0"/>
              <a:t>- </a:t>
            </a:r>
            <a:r>
              <a:rPr lang="en-GB" dirty="0" err="1"/>
              <a:t>selected_plan</a:t>
            </a:r>
            <a:r>
              <a:rPr lang="en-GB" dirty="0"/>
              <a:t> — Plan chosen at signup (Free, Starter, Professional, Enterprise)</a:t>
            </a:r>
          </a:p>
          <a:p>
            <a:r>
              <a:rPr lang="en-GB" dirty="0"/>
              <a:t>- </a:t>
            </a:r>
            <a:r>
              <a:rPr lang="en-GB" dirty="0" err="1"/>
              <a:t>steps_completed</a:t>
            </a:r>
            <a:r>
              <a:rPr lang="en-GB" dirty="0"/>
              <a:t> — How many of the 8 onboarding steps the user completed</a:t>
            </a:r>
          </a:p>
          <a:p>
            <a:r>
              <a:rPr lang="en-GB" dirty="0"/>
              <a:t>- </a:t>
            </a:r>
            <a:r>
              <a:rPr lang="en-GB" dirty="0" err="1"/>
              <a:t>drop_off_step</a:t>
            </a:r>
            <a:r>
              <a:rPr lang="en-GB" dirty="0"/>
              <a:t> — The exact step where the user gave up</a:t>
            </a:r>
          </a:p>
          <a:p>
            <a:r>
              <a:rPr lang="en-GB" dirty="0"/>
              <a:t>- converted — Whether the user completed full onboarding (1 = Yes, 0 = No)</a:t>
            </a:r>
          </a:p>
          <a:p>
            <a:r>
              <a:rPr lang="en-GB" dirty="0"/>
              <a:t>- </a:t>
            </a:r>
            <a:r>
              <a:rPr lang="en-GB" dirty="0" err="1"/>
              <a:t>session_duration_mins</a:t>
            </a:r>
            <a:r>
              <a:rPr lang="en-GB" dirty="0"/>
              <a:t> — How long the user spent during onboarding</a:t>
            </a:r>
          </a:p>
          <a:p>
            <a:r>
              <a:rPr lang="en-GB" dirty="0"/>
              <a:t>- </a:t>
            </a:r>
            <a:r>
              <a:rPr lang="en-GB" dirty="0" err="1"/>
              <a:t>error_encountered</a:t>
            </a:r>
            <a:r>
              <a:rPr lang="en-GB" dirty="0"/>
              <a:t> — Whether the user hit a system error (1 = Yes, 0 = No</a:t>
            </a:r>
          </a:p>
        </p:txBody>
      </p:sp>
    </p:spTree>
    <p:extLst>
      <p:ext uri="{BB962C8B-B14F-4D97-AF65-F5344CB8AC3E}">
        <p14:creationId xmlns:p14="http://schemas.microsoft.com/office/powerpoint/2010/main" val="50300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B3D6-7D7A-4622-F558-A8F5A492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6AE98-CB12-E123-AC40-D8067A199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6023-5713-0E34-9876-959CA50342CF}"/>
              </a:ext>
            </a:extLst>
          </p:cNvPr>
          <p:cNvSpPr txBox="1"/>
          <p:nvPr/>
        </p:nvSpPr>
        <p:spPr>
          <a:xfrm>
            <a:off x="3048000" y="212871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8 Onboarding Steps:</a:t>
            </a:r>
          </a:p>
          <a:p>
            <a:r>
              <a:rPr lang="en-GB" dirty="0"/>
              <a:t>Step 1 → Signup Started</a:t>
            </a:r>
          </a:p>
          <a:p>
            <a:r>
              <a:rPr lang="en-GB" dirty="0"/>
              <a:t>Step 2 → Email Verified</a:t>
            </a:r>
          </a:p>
          <a:p>
            <a:r>
              <a:rPr lang="en-GB" dirty="0"/>
              <a:t>Step 3 → Profile Completed</a:t>
            </a:r>
          </a:p>
          <a:p>
            <a:r>
              <a:rPr lang="en-GB" dirty="0"/>
              <a:t>Step 4 → Payment Entered</a:t>
            </a:r>
          </a:p>
          <a:p>
            <a:r>
              <a:rPr lang="en-GB" dirty="0"/>
              <a:t>Step 5 → Tutorial Started</a:t>
            </a:r>
          </a:p>
          <a:p>
            <a:r>
              <a:rPr lang="en-GB" dirty="0"/>
              <a:t>Step 6 → Tutorial Completed</a:t>
            </a:r>
          </a:p>
          <a:p>
            <a:r>
              <a:rPr lang="en-GB" dirty="0"/>
              <a:t>Step 7 → First Feature Used</a:t>
            </a:r>
          </a:p>
          <a:p>
            <a:r>
              <a:rPr lang="en-GB" dirty="0"/>
              <a:t>Step 8 → Converted ✅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386886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7332-6D65-EA6E-A3A2-2C55C52C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Query Cleaning Applied Steps</a:t>
            </a:r>
            <a:endParaRPr lang="en-V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641D92-31CF-1C5B-C812-F2EF716CB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19" y="2052638"/>
            <a:ext cx="1666737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1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87CA-ADC5-D75D-32CF-B5F03EC29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preview</a:t>
            </a:r>
            <a:endParaRPr lang="en-V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DF0B2C-E2E3-9A37-EFE0-470107929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807" y="2052638"/>
            <a:ext cx="743216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8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5084-C2FA-D2EE-5DF4-1B4C4C4A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Preview</a:t>
            </a:r>
            <a:endParaRPr lang="en-V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4555D5-967B-37CC-6D97-BD5B3B414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65" y="2052638"/>
            <a:ext cx="7409046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2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38BB-EE6D-4760-392E-0E888B950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Preview</a:t>
            </a:r>
            <a:endParaRPr lang="en-V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1E6464-386E-7C4F-2CFF-327743EA7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255" y="2052638"/>
            <a:ext cx="7403266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1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3E8A-9747-BA74-C2ED-61854B54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Preview</a:t>
            </a:r>
            <a:endParaRPr lang="en-V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2C63BA-E5BB-2484-AB37-B1191205E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696" y="2052638"/>
            <a:ext cx="7426384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4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7EDA2-E00E-7332-8F89-579FD76F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Strategic Recommendations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DB2D-182C-152B-59D4-6EE1C6143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                     INSIGHT 1 — Fix the Payment Step Urgently</a:t>
            </a:r>
          </a:p>
          <a:p>
            <a:r>
              <a:rPr lang="en-GB" dirty="0"/>
              <a:t>The payment entry step (Step 4) causes the single largest drop in the funnel.</a:t>
            </a:r>
          </a:p>
          <a:p>
            <a:r>
              <a:rPr lang="en-GB" dirty="0"/>
              <a:t>Recommendation:</a:t>
            </a:r>
          </a:p>
          <a:p>
            <a:r>
              <a:rPr lang="en-GB" dirty="0"/>
              <a:t>→ Introduce a "Try Free for 14 Days" option before asking for payment</a:t>
            </a:r>
          </a:p>
          <a:p>
            <a:r>
              <a:rPr lang="en-GB" dirty="0"/>
              <a:t>→ Add trust signals at the payment screen (security badges, testimonials)</a:t>
            </a:r>
          </a:p>
          <a:p>
            <a:r>
              <a:rPr lang="en-GB" dirty="0"/>
              <a:t>→ A/B test a simplified payment form with fewer fields</a:t>
            </a:r>
          </a:p>
          <a:p>
            <a:endParaRPr lang="en-GB" dirty="0"/>
          </a:p>
          <a:p>
            <a:r>
              <a:rPr lang="en-GB" dirty="0"/>
              <a:t>INSIGHT 2 — Mobile Experience Needs Immediate Attention</a:t>
            </a:r>
          </a:p>
          <a:p>
            <a:r>
              <a:rPr lang="en-GB" dirty="0"/>
              <a:t>55% of users onboard on mobile but convert 12% less than desktop users.</a:t>
            </a:r>
          </a:p>
          <a:p>
            <a:r>
              <a:rPr lang="en-GB" dirty="0"/>
              <a:t>Recommendation:</a:t>
            </a:r>
          </a:p>
          <a:p>
            <a:r>
              <a:rPr lang="en-GB" dirty="0"/>
              <a:t>→ Conduct a full mobile UX audit of all 8 onboarding steps</a:t>
            </a:r>
          </a:p>
          <a:p>
            <a:r>
              <a:rPr lang="en-GB" dirty="0"/>
              <a:t>→ Simplify form fields on mobile (use autofill, reduce typing)</a:t>
            </a:r>
          </a:p>
          <a:p>
            <a:r>
              <a:rPr lang="en-GB" dirty="0"/>
              <a:t>→ Test a mobile-specific onboarding flow with fewer steps</a:t>
            </a:r>
          </a:p>
          <a:p>
            <a:endParaRPr lang="en-GB" dirty="0"/>
          </a:p>
          <a:p>
            <a:endParaRPr lang="en-GB" dirty="0"/>
          </a:p>
          <a:p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237325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4BAE-0615-46FE-0453-3F961CB2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14082"/>
          </a:xfrm>
        </p:spPr>
        <p:txBody>
          <a:bodyPr/>
          <a:lstStyle/>
          <a:p>
            <a:r>
              <a:rPr lang="en-US" dirty="0"/>
              <a:t>Insight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17503-C142-3540-062E-A29D1C37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INSIGHT 3 — Reduce Email Verification Drop-off</a:t>
            </a:r>
          </a:p>
          <a:p>
            <a:r>
              <a:rPr lang="en-GB" dirty="0"/>
              <a:t>28% of users abandon before even verifying their email — the first real hurdle.</a:t>
            </a:r>
          </a:p>
          <a:p>
            <a:r>
              <a:rPr lang="en-GB" dirty="0"/>
              <a:t>Recommendation:</a:t>
            </a:r>
          </a:p>
          <a:p>
            <a:r>
              <a:rPr lang="en-GB" dirty="0"/>
              <a:t>→ Shorten the verification window (send reminders after 5 minutes, not 24 hours)</a:t>
            </a:r>
          </a:p>
          <a:p>
            <a:r>
              <a:rPr lang="en-GB" dirty="0"/>
              <a:t>→ Allow users to explore the product before being forced to verify</a:t>
            </a:r>
          </a:p>
          <a:p>
            <a:r>
              <a:rPr lang="en-GB" dirty="0"/>
              <a:t>→ Use SMS verification as an alternative to email</a:t>
            </a:r>
          </a:p>
          <a:p>
            <a:endParaRPr lang="en-GB" dirty="0"/>
          </a:p>
          <a:p>
            <a:r>
              <a:rPr lang="en-GB" dirty="0"/>
              <a:t>INSIGHT 4 — Re-allocate Marketing Budget</a:t>
            </a:r>
          </a:p>
          <a:p>
            <a:r>
              <a:rPr lang="en-GB" dirty="0"/>
              <a:t>Social Media has the worst conversion rate despite high user volume.</a:t>
            </a:r>
          </a:p>
          <a:p>
            <a:r>
              <a:rPr lang="en-GB" dirty="0"/>
              <a:t>Recommendation:</a:t>
            </a:r>
          </a:p>
          <a:p>
            <a:r>
              <a:rPr lang="en-GB" dirty="0"/>
              <a:t>→ Shift budget from Social Media ads to Email Campaigns and Referral programmes</a:t>
            </a:r>
          </a:p>
          <a:p>
            <a:r>
              <a:rPr lang="en-GB" dirty="0"/>
              <a:t>→ These channels deliver users with 40-60% higher conversion rates</a:t>
            </a:r>
          </a:p>
          <a:p>
            <a:r>
              <a:rPr lang="en-GB" dirty="0"/>
              <a:t>→ Introduce a referral incentive programme to grow the highest-quality channel</a:t>
            </a:r>
          </a:p>
          <a:p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1944970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22AB-7741-BA66-F109-EB2F25F8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429E2-9CD6-266B-3C3B-4FA26DE6F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INSIGHT 5 — Fix Bugs — Every Error Costs a Customer</a:t>
            </a:r>
          </a:p>
          <a:p>
            <a:r>
              <a:rPr lang="en-GB" dirty="0"/>
              <a:t>Users who encountered errors had a 34% higher drop-off rate.</a:t>
            </a:r>
          </a:p>
          <a:p>
            <a:r>
              <a:rPr lang="en-GB" dirty="0"/>
              <a:t>Recommendation:</a:t>
            </a:r>
          </a:p>
          <a:p>
            <a:r>
              <a:rPr lang="en-GB" dirty="0"/>
              <a:t>→ Implement real-time error tracking (e.g. Sentry or Datadog)</a:t>
            </a:r>
          </a:p>
          <a:p>
            <a:r>
              <a:rPr lang="en-GB" dirty="0"/>
              <a:t>→ Set a target of zero critical onboarding errors per week</a:t>
            </a:r>
          </a:p>
          <a:p>
            <a:r>
              <a:rPr lang="en-GB" dirty="0"/>
              <a:t>→ Run weekly QA testing across all devices and browsers</a:t>
            </a:r>
            <a:endParaRPr lang="en-VG" dirty="0"/>
          </a:p>
          <a:p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3803192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962E-A838-8CD1-8636-57E38FA0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— The Data Tells a Clear Story 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2BFD-489E-9DEA-0210-71B748447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                   Summary:</a:t>
            </a:r>
          </a:p>
          <a:p>
            <a:r>
              <a:rPr lang="en-GB" dirty="0"/>
              <a:t>Out of 1,500 users who began onboarding in 2024:</a:t>
            </a:r>
          </a:p>
          <a:p>
            <a:r>
              <a:rPr lang="en-GB" dirty="0"/>
              <a:t>- Only 440 (~29.5%) completed the full journey</a:t>
            </a:r>
          </a:p>
          <a:p>
            <a:r>
              <a:rPr lang="en-GB" dirty="0"/>
              <a:t>- Over 1,060 users were lost — each one a missed revenue opportunity</a:t>
            </a:r>
          </a:p>
          <a:p>
            <a:r>
              <a:rPr lang="en-GB" dirty="0"/>
              <a:t>- The payment step, mobile experience, and email verification </a:t>
            </a:r>
          </a:p>
          <a:p>
            <a:r>
              <a:rPr lang="en-GB" dirty="0"/>
              <a:t>  are the three biggest fixable problems</a:t>
            </a:r>
          </a:p>
          <a:p>
            <a:endParaRPr lang="en-GB" dirty="0"/>
          </a:p>
          <a:p>
            <a:r>
              <a:rPr lang="en-GB" dirty="0"/>
              <a:t>If we fix just the top 3 issues identified in this analysis:</a:t>
            </a:r>
          </a:p>
          <a:p>
            <a:r>
              <a:rPr lang="en-GB" dirty="0"/>
              <a:t>Fixing payment friction alone could recover an estimated </a:t>
            </a:r>
          </a:p>
          <a:p>
            <a:r>
              <a:rPr lang="en-GB" dirty="0"/>
              <a:t>200–270 additional conversions per cycle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9249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9169-5593-0AF2-3E09-94EE8F82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946EE-D6DD-608C-3D3C-187BF5555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Cost of Inaction:</a:t>
            </a:r>
          </a:p>
          <a:p>
            <a:r>
              <a:rPr lang="en-GB" dirty="0"/>
              <a:t>Every month these friction points remain unfixed, </a:t>
            </a:r>
          </a:p>
          <a:p>
            <a:r>
              <a:rPr lang="en-GB" dirty="0"/>
              <a:t>the business continues losing 70% of its potential customers.</a:t>
            </a:r>
          </a:p>
          <a:p>
            <a:endParaRPr lang="en-GB" dirty="0"/>
          </a:p>
          <a:p>
            <a:r>
              <a:rPr lang="en-GB" dirty="0"/>
              <a:t>The Opportunity:</a:t>
            </a:r>
          </a:p>
          <a:p>
            <a:r>
              <a:rPr lang="en-GB" dirty="0"/>
              <a:t>A 10% improvement in overall conversion rate from 29.5% to 39.5% </a:t>
            </a:r>
          </a:p>
          <a:p>
            <a:r>
              <a:rPr lang="en-GB" dirty="0"/>
              <a:t>would mean 150 additional converted users per 1,500 signups — </a:t>
            </a:r>
          </a:p>
          <a:p>
            <a:r>
              <a:rPr lang="en-GB" dirty="0"/>
              <a:t>a significant revenue impact achievable through data-driven UX improvements.</a:t>
            </a:r>
          </a:p>
          <a:p>
            <a:endParaRPr lang="en-GB" dirty="0"/>
          </a:p>
          <a:p>
            <a:r>
              <a:rPr lang="en-GB" dirty="0"/>
              <a:t>Final Message:</a:t>
            </a:r>
          </a:p>
          <a:p>
            <a:r>
              <a:rPr lang="en-GB" dirty="0"/>
              <a:t>Data is not just numbers on a screen.</a:t>
            </a:r>
          </a:p>
          <a:p>
            <a:r>
              <a:rPr lang="en-GB" dirty="0"/>
              <a:t>It is the voice of your users telling you exactly </a:t>
            </a:r>
          </a:p>
          <a:p>
            <a:r>
              <a:rPr lang="en-GB" dirty="0"/>
              <a:t>where they are struggling — and exactly where to fix it.</a:t>
            </a:r>
            <a:endParaRPr lang="en-VG" dirty="0"/>
          </a:p>
          <a:p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1671756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E27F-8E1A-AFE2-0797-E8CA1125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V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7ADC1-85D3-A233-01DA-577FFE8F0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Presented by: Akinyemi Tolulope Data Analyst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"Without data you are just another person with an opinion." — W. Edwards Deming</a:t>
            </a:r>
            <a:endParaRPr lang="en-VG" dirty="0"/>
          </a:p>
        </p:txBody>
      </p:sp>
    </p:spTree>
    <p:extLst>
      <p:ext uri="{BB962C8B-B14F-4D97-AF65-F5344CB8AC3E}">
        <p14:creationId xmlns:p14="http://schemas.microsoft.com/office/powerpoint/2010/main" val="587838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1058</Words>
  <Application>Microsoft Office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Century Gothic</vt:lpstr>
      <vt:lpstr>Wingdings 3</vt:lpstr>
      <vt:lpstr>Ion</vt:lpstr>
      <vt:lpstr>Title: User Onboarding Drop-off Analysis</vt:lpstr>
      <vt:lpstr>AGENDA</vt:lpstr>
      <vt:lpstr>Project Background &amp; Objectives</vt:lpstr>
      <vt:lpstr>About the Dataset</vt:lpstr>
      <vt:lpstr>PowerPoint Presentation</vt:lpstr>
      <vt:lpstr>PowerPoint Presentation</vt:lpstr>
      <vt:lpstr>Power Query Cleaning Applied Steps</vt:lpstr>
      <vt:lpstr>Dashboard preview</vt:lpstr>
      <vt:lpstr>Dashboard Preview</vt:lpstr>
      <vt:lpstr>Dashboard Preview</vt:lpstr>
      <vt:lpstr>Dashboard Preview</vt:lpstr>
      <vt:lpstr>Key Insights &amp; Strategic Recommendations</vt:lpstr>
      <vt:lpstr>Insight</vt:lpstr>
      <vt:lpstr>Insight</vt:lpstr>
      <vt:lpstr>Conclusion — The Data Tells a Clear Story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Tolulope Akinyemi</dc:creator>
  <cp:lastModifiedBy>Tolulope Akinyemi</cp:lastModifiedBy>
  <cp:revision>2</cp:revision>
  <dcterms:created xsi:type="dcterms:W3CDTF">2026-05-05T15:42:58Z</dcterms:created>
  <dcterms:modified xsi:type="dcterms:W3CDTF">2026-05-05T18:36:31Z</dcterms:modified>
</cp:coreProperties>
</file>